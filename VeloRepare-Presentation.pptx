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43276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663440" y="1280160"/>
            <a:ext cx="4572000" cy="2560320"/>
          </a:xfrm>
          <a:prstGeom prst="ellipse">
            <a:avLst/>
          </a:prstGeom>
          <a:solidFill>
            <a:srgbClr val="3FBA74">
              <a:alpha val="5000"/>
            </a:srgbClr>
          </a:solidFill>
          <a:ln w="6350">
            <a:solidFill>
              <a:srgbClr val="3FBA7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5212080" y="1587398"/>
            <a:ext cx="3474720" cy="1945843"/>
          </a:xfrm>
          <a:prstGeom prst="ellipse">
            <a:avLst/>
          </a:prstGeom>
          <a:solidFill>
            <a:srgbClr val="3FBA74">
              <a:alpha val="10000"/>
            </a:srgbClr>
          </a:solidFill>
          <a:ln w="6350">
            <a:solidFill>
              <a:srgbClr val="3FBA74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5669280" y="1843430"/>
            <a:ext cx="2560320" cy="1433779"/>
          </a:xfrm>
          <a:prstGeom prst="ellipse">
            <a:avLst/>
          </a:prstGeom>
          <a:solidFill>
            <a:srgbClr val="3FBA74">
              <a:alpha val="16000"/>
            </a:srgbClr>
          </a:solidFill>
          <a:ln w="6350">
            <a:solidFill>
              <a:srgbClr val="3FBA74">
                <a:alpha val="31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6172200" y="2125066"/>
            <a:ext cx="1554480" cy="870509"/>
          </a:xfrm>
          <a:prstGeom prst="ellipse">
            <a:avLst/>
          </a:prstGeom>
          <a:solidFill>
            <a:srgbClr val="3FBA74">
              <a:alpha val="26000"/>
            </a:srgbClr>
          </a:solidFill>
          <a:ln w="6350">
            <a:solidFill>
              <a:srgbClr val="3FBA74">
                <a:alpha val="41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alphaModFix amt="12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54880" y="365760"/>
            <a:ext cx="4206240" cy="292608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8640" y="457200"/>
            <a:ext cx="411480" cy="411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24128" y="43891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D4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VéloRépare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48640" y="1097280"/>
            <a:ext cx="2743200" cy="256032"/>
          </a:xfrm>
          <a:prstGeom prst="roundRect">
            <a:avLst>
              <a:gd name="adj" fmla="val 50000"/>
            </a:avLst>
          </a:prstGeom>
          <a:solidFill>
            <a:srgbClr val="3FBA74">
              <a:alpha val="18000"/>
            </a:srgbClr>
          </a:solidFill>
          <a:ln w="12700">
            <a:solidFill>
              <a:srgbClr val="3FBA7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6"/>
          <p:cNvSpPr/>
          <p:nvPr/>
        </p:nvSpPr>
        <p:spPr>
          <a:xfrm>
            <a:off x="548640" y="10972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300" dirty="0">
                <a:solidFill>
                  <a:srgbClr val="A8F0C6"/>
                </a:solidFill>
              </a:rPr>
              <a:t>ASSOCIATION ÉCO-RESPONSABLE</a:t>
            </a:r>
            <a:endParaRPr lang="en-US" sz="700" dirty="0"/>
          </a:p>
        </p:txBody>
      </p:sp>
      <p:sp>
        <p:nvSpPr>
          <p:cNvPr id="11" name="Text 7"/>
          <p:cNvSpPr/>
          <p:nvPr/>
        </p:nvSpPr>
        <p:spPr>
          <a:xfrm>
            <a:off x="502920" y="1417320"/>
            <a:ext cx="5486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58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Réparer,</a:t>
            </a:r>
            <a:endParaRPr lang="en-US" sz="5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58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 pas jeter.</a:t>
            </a:r>
            <a:endParaRPr lang="en-US" sz="5800" dirty="0"/>
          </a:p>
        </p:txBody>
      </p:sp>
      <p:sp>
        <p:nvSpPr>
          <p:cNvPr id="12" name="Text 8"/>
          <p:cNvSpPr/>
          <p:nvPr/>
        </p:nvSpPr>
        <p:spPr>
          <a:xfrm>
            <a:off x="548640" y="347472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A8F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de l'association VéloRépare — 2025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4023360"/>
            <a:ext cx="2011680" cy="804672"/>
          </a:xfrm>
          <a:prstGeom prst="rect">
            <a:avLst/>
          </a:prstGeom>
          <a:solidFill>
            <a:srgbClr val="3FBA74">
              <a:alpha val="10000"/>
            </a:srgbClr>
          </a:solidFill>
          <a:ln w="6350">
            <a:solidFill>
              <a:srgbClr val="3FBA7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0"/>
          <p:cNvSpPr/>
          <p:nvPr/>
        </p:nvSpPr>
        <p:spPr>
          <a:xfrm>
            <a:off x="548640" y="4041648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FBA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847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548640" y="444398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F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Vélos réparés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2761488" y="4023360"/>
            <a:ext cx="2011680" cy="804672"/>
          </a:xfrm>
          <a:prstGeom prst="rect">
            <a:avLst/>
          </a:prstGeom>
          <a:solidFill>
            <a:srgbClr val="3FBA74">
              <a:alpha val="10000"/>
            </a:srgbClr>
          </a:solidFill>
          <a:ln w="6350">
            <a:solidFill>
              <a:srgbClr val="3FBA7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3"/>
          <p:cNvSpPr/>
          <p:nvPr/>
        </p:nvSpPr>
        <p:spPr>
          <a:xfrm>
            <a:off x="2761488" y="4041648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FBA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203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2761488" y="444398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F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Membres actifs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4974336" y="4023360"/>
            <a:ext cx="2011680" cy="804672"/>
          </a:xfrm>
          <a:prstGeom prst="rect">
            <a:avLst/>
          </a:prstGeom>
          <a:solidFill>
            <a:srgbClr val="3FBA74">
              <a:alpha val="10000"/>
            </a:srgbClr>
          </a:solidFill>
          <a:ln w="6350">
            <a:solidFill>
              <a:srgbClr val="3FBA7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6"/>
          <p:cNvSpPr/>
          <p:nvPr/>
        </p:nvSpPr>
        <p:spPr>
          <a:xfrm>
            <a:off x="4974336" y="4041648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FBA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t</a:t>
            </a:r>
            <a:endParaRPr lang="en-US" sz="2200" dirty="0"/>
          </a:p>
        </p:txBody>
      </p:sp>
      <p:sp>
        <p:nvSpPr>
          <p:cNvPr id="21" name="Text 17"/>
          <p:cNvSpPr/>
          <p:nvPr/>
        </p:nvSpPr>
        <p:spPr>
          <a:xfrm>
            <a:off x="4974336" y="444398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F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évité</a:t>
            </a:r>
            <a:endParaRPr lang="en-US" sz="85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>
            <a:alphaModFix amt="60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2920" y="4828032"/>
            <a:ext cx="292608" cy="29260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59536" y="482803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F0C6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velorepare.fr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66160" cy="5143500"/>
          </a:xfrm>
          <a:prstGeom prst="rect">
            <a:avLst/>
          </a:prstGeom>
          <a:solidFill>
            <a:srgbClr val="14422A"/>
          </a:solidFill>
          <a:ln w="12700">
            <a:solidFill>
              <a:srgbClr val="1442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alphaModFix amt="2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82880" y="731520"/>
            <a:ext cx="3931920" cy="2743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" y="1005840"/>
            <a:ext cx="3017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Réparer,</a:t>
            </a:r>
            <a:endParaRPr lang="en-US" sz="3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partager,</a:t>
            </a:r>
            <a:endParaRPr lang="en-US" sz="3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réduire.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274320" y="310896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A8F0C6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citoyenne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A8F0C6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fondée à Paris en 2021</a:t>
            </a: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54480" y="4434840"/>
            <a:ext cx="457200" cy="4572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840480" y="411480"/>
            <a:ext cx="2286000" cy="256032"/>
          </a:xfrm>
          <a:prstGeom prst="roundRect">
            <a:avLst>
              <a:gd name="adj" fmla="val 50000"/>
            </a:avLst>
          </a:prstGeom>
          <a:solidFill>
            <a:srgbClr val="3FBA74">
              <a:alpha val="18000"/>
            </a:srgbClr>
          </a:solidFill>
          <a:ln w="12700">
            <a:solidFill>
              <a:srgbClr val="3FBA7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4"/>
          <p:cNvSpPr/>
          <p:nvPr/>
        </p:nvSpPr>
        <p:spPr>
          <a:xfrm>
            <a:off x="3840480" y="4114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300" dirty="0">
                <a:solidFill>
                  <a:srgbClr val="A8F0C6"/>
                </a:solidFill>
              </a:rPr>
              <a:t>QUI SOMMES-NOUS</a:t>
            </a:r>
            <a:endParaRPr lang="en-US" sz="700" dirty="0"/>
          </a:p>
        </p:txBody>
      </p:sp>
      <p:sp>
        <p:nvSpPr>
          <p:cNvPr id="9" name="Text 5"/>
          <p:cNvSpPr/>
          <p:nvPr/>
        </p:nvSpPr>
        <p:spPr>
          <a:xfrm>
            <a:off x="3749040" y="73152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2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VéloRépare, l'atelier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0D2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collaboratif de quartier.</a:t>
            </a:r>
            <a:endParaRPr lang="en-US" sz="2800" dirty="0"/>
          </a:p>
        </p:txBody>
      </p:sp>
      <p:sp>
        <p:nvSpPr>
          <p:cNvPr id="10" name="Text 6"/>
          <p:cNvSpPr/>
          <p:nvPr/>
        </p:nvSpPr>
        <p:spPr>
          <a:xfrm>
            <a:off x="3749040" y="2103120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144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sommes une association loi 1901 dont la mission est simple : redonner vie aux vélos plutôt que de les envoyer à la décharge. Chaque semaine, nos bénévoles accueillent gratuitement toute personne souhaitant réparer son vélo ou apprendre à le faire.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749040" y="3429000"/>
            <a:ext cx="45720" cy="438912"/>
          </a:xfrm>
          <a:prstGeom prst="rect">
            <a:avLst/>
          </a:prstGeom>
          <a:solidFill>
            <a:srgbClr val="3FBA74"/>
          </a:solidFill>
          <a:ln w="12700">
            <a:solidFill>
              <a:srgbClr val="3FBA7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8"/>
          <p:cNvSpPr/>
          <p:nvPr/>
        </p:nvSpPr>
        <p:spPr>
          <a:xfrm>
            <a:off x="3886200" y="34290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Gratuité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886200" y="3630168"/>
            <a:ext cx="4937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8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Adhésion libre, dons bienvenus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3749040" y="3977640"/>
            <a:ext cx="45720" cy="438912"/>
          </a:xfrm>
          <a:prstGeom prst="rect">
            <a:avLst/>
          </a:prstGeom>
          <a:solidFill>
            <a:srgbClr val="3FBA74"/>
          </a:solidFill>
          <a:ln w="12700">
            <a:solidFill>
              <a:srgbClr val="3FBA7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1"/>
          <p:cNvSpPr/>
          <p:nvPr/>
        </p:nvSpPr>
        <p:spPr>
          <a:xfrm>
            <a:off x="3886200" y="39776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Partage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886200" y="4178808"/>
            <a:ext cx="4937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8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Savoir-faire transmis entre membres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3749040" y="4526280"/>
            <a:ext cx="45720" cy="438912"/>
          </a:xfrm>
          <a:prstGeom prst="rect">
            <a:avLst/>
          </a:prstGeom>
          <a:solidFill>
            <a:srgbClr val="3FBA74"/>
          </a:solidFill>
          <a:ln w="12700">
            <a:solidFill>
              <a:srgbClr val="3FBA7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4"/>
          <p:cNvSpPr/>
          <p:nvPr/>
        </p:nvSpPr>
        <p:spPr>
          <a:xfrm>
            <a:off x="3886200" y="45262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Sobriété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3886200" y="4727448"/>
            <a:ext cx="4937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8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Réparer plutôt que remplacer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2286000" cy="256032"/>
          </a:xfrm>
          <a:prstGeom prst="roundRect">
            <a:avLst>
              <a:gd name="adj" fmla="val 50000"/>
            </a:avLst>
          </a:prstGeom>
          <a:solidFill>
            <a:srgbClr val="3FBA74">
              <a:alpha val="18000"/>
            </a:srgbClr>
          </a:solidFill>
          <a:ln w="12700">
            <a:solidFill>
              <a:srgbClr val="3FBA74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300" dirty="0"/>
              <a:t>CE QU'ON FAIT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D2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services,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0D2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zéro superflu.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2697480" cy="1444752"/>
          </a:xfrm>
          <a:prstGeom prst="rect">
            <a:avLst/>
          </a:prstGeom>
          <a:solidFill>
            <a:srgbClr val="E8DFC8"/>
          </a:solidFill>
          <a:ln w="12700">
            <a:solidFill>
              <a:srgbClr val="E8DFC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45720" cy="1444752"/>
          </a:xfrm>
          <a:prstGeom prst="rect">
            <a:avLst/>
          </a:prstGeom>
          <a:solidFill>
            <a:srgbClr val="3FBA74"/>
          </a:solidFill>
          <a:ln w="12700">
            <a:solidFill>
              <a:srgbClr val="3FBA7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658368" y="17373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3F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199339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2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Révision complète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58368" y="2377440"/>
            <a:ext cx="457200" cy="0"/>
          </a:xfrm>
          <a:prstGeom prst="line">
            <a:avLst/>
          </a:prstGeom>
          <a:noFill/>
          <a:ln w="9525">
            <a:solidFill>
              <a:srgbClr val="3FBA7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58368" y="246888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900" dirty="0">
                <a:solidFill>
                  <a:srgbClr val="144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Freins, dérailleur, câbles, roulements.</a:t>
            </a:r>
            <a:endParaRPr lang="en-US" sz="9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00" dirty="0">
                <a:solidFill>
                  <a:srgbClr val="144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Pièces réutilisées autant que possible.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29000" y="1645920"/>
            <a:ext cx="2697480" cy="1444752"/>
          </a:xfrm>
          <a:prstGeom prst="rect">
            <a:avLst/>
          </a:prstGeom>
          <a:solidFill>
            <a:srgbClr val="E8DFC8"/>
          </a:solidFill>
          <a:ln w="12700">
            <a:solidFill>
              <a:srgbClr val="E8DFC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3429000" y="1645920"/>
            <a:ext cx="45720" cy="1444752"/>
          </a:xfrm>
          <a:prstGeom prst="rect">
            <a:avLst/>
          </a:prstGeom>
          <a:solidFill>
            <a:srgbClr val="3FBA74"/>
          </a:solidFill>
          <a:ln w="12700">
            <a:solidFill>
              <a:srgbClr val="3FBA7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538728" y="17373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3F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538728" y="199339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2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Réparation ponctuelle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538728" y="2377440"/>
            <a:ext cx="457200" cy="0"/>
          </a:xfrm>
          <a:prstGeom prst="line">
            <a:avLst/>
          </a:prstGeom>
          <a:noFill/>
          <a:ln w="9525">
            <a:solidFill>
              <a:srgbClr val="3FBA7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3538728" y="246888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900" dirty="0">
                <a:solidFill>
                  <a:srgbClr val="144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Crevaison, câble cassé, pédale arrachée.</a:t>
            </a:r>
            <a:endParaRPr lang="en-US" sz="9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00" dirty="0">
                <a:solidFill>
                  <a:srgbClr val="144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Souvent réglé en moins d'une heure.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309360" y="1645920"/>
            <a:ext cx="2697480" cy="1444752"/>
          </a:xfrm>
          <a:prstGeom prst="rect">
            <a:avLst/>
          </a:prstGeom>
          <a:solidFill>
            <a:srgbClr val="E8DFC8"/>
          </a:solidFill>
          <a:ln w="12700">
            <a:solidFill>
              <a:srgbClr val="E8DFC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6309360" y="1645920"/>
            <a:ext cx="45720" cy="1444752"/>
          </a:xfrm>
          <a:prstGeom prst="rect">
            <a:avLst/>
          </a:prstGeom>
          <a:solidFill>
            <a:srgbClr val="3FBA74"/>
          </a:solidFill>
          <a:ln w="12700">
            <a:solidFill>
              <a:srgbClr val="3FBA7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6419088" y="17373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3F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419088" y="199339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2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Ateliers apprenants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19088" y="2377440"/>
            <a:ext cx="457200" cy="0"/>
          </a:xfrm>
          <a:prstGeom prst="line">
            <a:avLst/>
          </a:prstGeom>
          <a:noFill/>
          <a:ln w="9525">
            <a:solidFill>
              <a:srgbClr val="3FBA7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6419088" y="246888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900" dirty="0">
                <a:solidFill>
                  <a:srgbClr val="144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hebdomadaires pour apprendre</a:t>
            </a:r>
            <a:endParaRPr lang="en-US" sz="9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00" dirty="0">
                <a:solidFill>
                  <a:srgbClr val="144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réparer son propre vélo.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3246120"/>
            <a:ext cx="2697480" cy="1444752"/>
          </a:xfrm>
          <a:prstGeom prst="rect">
            <a:avLst/>
          </a:prstGeom>
          <a:solidFill>
            <a:srgbClr val="E8DFC8"/>
          </a:solidFill>
          <a:ln w="12700">
            <a:solidFill>
              <a:srgbClr val="E8DFC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548640" y="3246120"/>
            <a:ext cx="45720" cy="1444752"/>
          </a:xfrm>
          <a:prstGeom prst="rect">
            <a:avLst/>
          </a:prstGeom>
          <a:solidFill>
            <a:srgbClr val="3FBA74"/>
          </a:solidFill>
          <a:ln w="12700">
            <a:solidFill>
              <a:srgbClr val="3FBA7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658368" y="33375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3F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58368" y="359359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2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Pièces recyclées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58368" y="3977640"/>
            <a:ext cx="457200" cy="0"/>
          </a:xfrm>
          <a:prstGeom prst="line">
            <a:avLst/>
          </a:prstGeom>
          <a:noFill/>
          <a:ln w="9525">
            <a:solidFill>
              <a:srgbClr val="3FBA7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658368" y="406908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900" dirty="0">
                <a:solidFill>
                  <a:srgbClr val="144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de composants récupérés sur</a:t>
            </a:r>
            <a:endParaRPr lang="en-US" sz="9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00" dirty="0">
                <a:solidFill>
                  <a:srgbClr val="144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vélos hors d'usage.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429000" y="3246120"/>
            <a:ext cx="2697480" cy="1444752"/>
          </a:xfrm>
          <a:prstGeom prst="rect">
            <a:avLst/>
          </a:prstGeom>
          <a:solidFill>
            <a:srgbClr val="E8DFC8"/>
          </a:solidFill>
          <a:ln w="12700">
            <a:solidFill>
              <a:srgbClr val="E8DFC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3429000" y="3246120"/>
            <a:ext cx="45720" cy="1444752"/>
          </a:xfrm>
          <a:prstGeom prst="rect">
            <a:avLst/>
          </a:prstGeom>
          <a:solidFill>
            <a:srgbClr val="3FBA74"/>
          </a:solidFill>
          <a:ln w="12700">
            <a:solidFill>
              <a:srgbClr val="3FBA7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3538728" y="33375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3F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538728" y="359359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2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Vélos reconditionnés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3538728" y="3977640"/>
            <a:ext cx="457200" cy="0"/>
          </a:xfrm>
          <a:prstGeom prst="line">
            <a:avLst/>
          </a:prstGeom>
          <a:noFill/>
          <a:ln w="9525">
            <a:solidFill>
              <a:srgbClr val="3FBA7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3538728" y="406908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900" dirty="0">
                <a:solidFill>
                  <a:srgbClr val="144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Vélos remis à neuf disponibles</a:t>
            </a:r>
            <a:endParaRPr lang="en-US" sz="9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00" dirty="0">
                <a:solidFill>
                  <a:srgbClr val="144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adoption.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309360" y="3246120"/>
            <a:ext cx="2697480" cy="1444752"/>
          </a:xfrm>
          <a:prstGeom prst="rect">
            <a:avLst/>
          </a:prstGeom>
          <a:solidFill>
            <a:srgbClr val="E8DFC8"/>
          </a:solidFill>
          <a:ln w="12700">
            <a:solidFill>
              <a:srgbClr val="E8DFC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6309360" y="3246120"/>
            <a:ext cx="45720" cy="1444752"/>
          </a:xfrm>
          <a:prstGeom prst="rect">
            <a:avLst/>
          </a:prstGeom>
          <a:solidFill>
            <a:srgbClr val="3FBA74"/>
          </a:solidFill>
          <a:ln w="12700">
            <a:solidFill>
              <a:srgbClr val="3FBA7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6419088" y="33375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3F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419088" y="359359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2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Sensibilisation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6419088" y="3977640"/>
            <a:ext cx="457200" cy="0"/>
          </a:xfrm>
          <a:prstGeom prst="line">
            <a:avLst/>
          </a:prstGeom>
          <a:noFill/>
          <a:ln w="9525">
            <a:solidFill>
              <a:srgbClr val="3FBA7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6419088" y="406908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900" dirty="0">
                <a:solidFill>
                  <a:srgbClr val="144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Événements, conférences, présence</a:t>
            </a:r>
            <a:endParaRPr lang="en-US" sz="9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00" dirty="0">
                <a:solidFill>
                  <a:srgbClr val="144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les écoles.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2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80560" y="1228954"/>
            <a:ext cx="4754880" cy="2662733"/>
          </a:xfrm>
          <a:prstGeom prst="ellipse">
            <a:avLst/>
          </a:prstGeom>
          <a:solidFill>
            <a:srgbClr val="3FBA74">
              <a:alpha val="4000"/>
            </a:srgbClr>
          </a:solidFill>
          <a:ln w="6350">
            <a:solidFill>
              <a:srgbClr val="3FBA74">
                <a:alpha val="19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5029200" y="1536192"/>
            <a:ext cx="3657600" cy="2048256"/>
          </a:xfrm>
          <a:prstGeom prst="ellipse">
            <a:avLst/>
          </a:prstGeom>
          <a:solidFill>
            <a:srgbClr val="3FBA74">
              <a:alpha val="9000"/>
            </a:srgbClr>
          </a:solidFill>
          <a:ln w="6350">
            <a:solidFill>
              <a:srgbClr val="3FBA74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5577840" y="1843430"/>
            <a:ext cx="2560320" cy="1433779"/>
          </a:xfrm>
          <a:prstGeom prst="ellipse">
            <a:avLst/>
          </a:prstGeom>
          <a:solidFill>
            <a:srgbClr val="3FBA74">
              <a:alpha val="16000"/>
            </a:srgbClr>
          </a:solidFill>
          <a:ln w="6350">
            <a:solidFill>
              <a:srgbClr val="3FBA74">
                <a:alpha val="31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548640" y="411480"/>
            <a:ext cx="2286000" cy="256032"/>
          </a:xfrm>
          <a:prstGeom prst="roundRect">
            <a:avLst>
              <a:gd name="adj" fmla="val 50000"/>
            </a:avLst>
          </a:prstGeom>
          <a:solidFill>
            <a:srgbClr val="3FBA74">
              <a:alpha val="18000"/>
            </a:srgbClr>
          </a:solidFill>
          <a:ln w="12700">
            <a:solidFill>
              <a:srgbClr val="3FBA7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48640" y="4114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300" dirty="0">
                <a:solidFill>
                  <a:srgbClr val="A8F0C6"/>
                </a:solidFill>
              </a:rPr>
              <a:t>NOTRE IMPACT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Chaque vélo réparé,</a:t>
            </a:r>
            <a:endParaRPr lang="en-US" sz="3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c'est la planète</a:t>
            </a:r>
            <a:endParaRPr lang="en-US" sz="3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 respire.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A8F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réparant plutôt qu'en remplaçant, notre</a:t>
            </a:r>
            <a:endParaRPr lang="en-US" sz="11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A8F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communauté évite des tonnes d'émissions CO₂</a:t>
            </a:r>
            <a:endParaRPr lang="en-US" sz="11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A8F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année.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4069080"/>
            <a:ext cx="2057400" cy="841248"/>
          </a:xfrm>
          <a:prstGeom prst="rect">
            <a:avLst/>
          </a:prstGeom>
          <a:solidFill>
            <a:srgbClr val="3FBA74">
              <a:alpha val="12000"/>
            </a:srgbClr>
          </a:solidFill>
          <a:ln w="6350">
            <a:solidFill>
              <a:srgbClr val="3FBA7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57200" y="4087368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FBA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847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4471416"/>
            <a:ext cx="2057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F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Vélos réparés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4681728"/>
            <a:ext cx="2057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DD49A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depuis 2021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2651760" y="4069080"/>
            <a:ext cx="2057400" cy="841248"/>
          </a:xfrm>
          <a:prstGeom prst="rect">
            <a:avLst/>
          </a:prstGeom>
          <a:solidFill>
            <a:srgbClr val="3FBA74">
              <a:alpha val="12000"/>
            </a:srgbClr>
          </a:solidFill>
          <a:ln w="6350">
            <a:solidFill>
              <a:srgbClr val="3FBA7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2651760" y="4087368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FBA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651760" y="4471416"/>
            <a:ext cx="2057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F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Membres actifs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651760" y="4681728"/>
            <a:ext cx="2057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DD49A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bénévoles &amp; adhérents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846320" y="4069080"/>
            <a:ext cx="2057400" cy="841248"/>
          </a:xfrm>
          <a:prstGeom prst="rect">
            <a:avLst/>
          </a:prstGeom>
          <a:solidFill>
            <a:srgbClr val="3FBA74">
              <a:alpha val="12000"/>
            </a:srgbClr>
          </a:solidFill>
          <a:ln w="6350">
            <a:solidFill>
              <a:srgbClr val="3FBA7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846320" y="4087368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FBA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t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846320" y="4471416"/>
            <a:ext cx="2057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F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évité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846320" y="4681728"/>
            <a:ext cx="2057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DD49A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cette année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7040880" y="4069080"/>
            <a:ext cx="2057400" cy="841248"/>
          </a:xfrm>
          <a:prstGeom prst="rect">
            <a:avLst/>
          </a:prstGeom>
          <a:solidFill>
            <a:srgbClr val="3FBA74">
              <a:alpha val="12000"/>
            </a:srgbClr>
          </a:solidFill>
          <a:ln w="6350">
            <a:solidFill>
              <a:srgbClr val="3FBA7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7040880" y="4087368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FBA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040880" y="4471416"/>
            <a:ext cx="2057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F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040880" y="4681728"/>
            <a:ext cx="2057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DD49A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adhésion libre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42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286000" cy="256032"/>
          </a:xfrm>
          <a:prstGeom prst="roundRect">
            <a:avLst>
              <a:gd name="adj" fmla="val 50000"/>
            </a:avLst>
          </a:prstGeom>
          <a:solidFill>
            <a:srgbClr val="3FBA74">
              <a:alpha val="18000"/>
            </a:srgbClr>
          </a:solidFill>
          <a:ln w="12700">
            <a:solidFill>
              <a:srgbClr val="3FBA7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300" dirty="0">
                <a:solidFill>
                  <a:srgbClr val="A8F0C6"/>
                </a:solidFill>
              </a:rPr>
              <a:t>L'ATELIER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Venez nous voir.</a:t>
            </a:r>
            <a:endParaRPr lang="en-US" sz="3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L'atelier est toujours ouvert.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A8F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Situé au coeur de Paris, notre atelier accueille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A8F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le monde — bénévoles ou non.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880360"/>
            <a:ext cx="4572000" cy="402336"/>
          </a:xfrm>
          <a:prstGeom prst="rect">
            <a:avLst/>
          </a:prstGeom>
          <a:solidFill>
            <a:srgbClr val="0D2B1A">
              <a:alpha val="45000"/>
            </a:srgbClr>
          </a:solidFill>
          <a:ln w="12700">
            <a:solidFill>
              <a:srgbClr val="3FBA7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94360" y="288036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F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Lundi — Mercredi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83280" y="2880360"/>
            <a:ext cx="1508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3F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14h — 18h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355848"/>
            <a:ext cx="4572000" cy="402336"/>
          </a:xfrm>
          <a:prstGeom prst="rect">
            <a:avLst/>
          </a:prstGeom>
          <a:solidFill>
            <a:srgbClr val="0D2B1A">
              <a:alpha val="35000"/>
            </a:srgbClr>
          </a:solidFill>
          <a:ln w="12700">
            <a:solidFill>
              <a:srgbClr val="3FBA7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94360" y="3355848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F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Jeudi — Vendredi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0" y="3355848"/>
            <a:ext cx="1508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3F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14h — 20h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831336"/>
            <a:ext cx="4572000" cy="402336"/>
          </a:xfrm>
          <a:prstGeom prst="rect">
            <a:avLst/>
          </a:prstGeom>
          <a:solidFill>
            <a:srgbClr val="0D2B1A">
              <a:alpha val="45000"/>
            </a:srgbClr>
          </a:solidFill>
          <a:ln w="12700">
            <a:solidFill>
              <a:srgbClr val="3FBA7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594360" y="3831336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F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Samedi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83280" y="3831336"/>
            <a:ext cx="1508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3F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10h — 18h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306824"/>
            <a:ext cx="4572000" cy="402336"/>
          </a:xfrm>
          <a:prstGeom prst="rect">
            <a:avLst/>
          </a:prstGeom>
          <a:solidFill>
            <a:srgbClr val="0D2B1A">
              <a:alpha val="35000"/>
            </a:srgbClr>
          </a:solidFill>
          <a:ln w="12700">
            <a:solidFill>
              <a:srgbClr val="3FBA7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94360" y="4306824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F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Dimanche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4306824"/>
            <a:ext cx="1508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D8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Fermé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736592"/>
            <a:ext cx="4572000" cy="310896"/>
          </a:xfrm>
          <a:prstGeom prst="rect">
            <a:avLst/>
          </a:prstGeom>
          <a:solidFill>
            <a:srgbClr val="3FBA74">
              <a:alpha val="20000"/>
            </a:srgbClr>
          </a:solidFill>
          <a:ln w="6350">
            <a:solidFill>
              <a:srgbClr val="3FBA7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548640" y="4736592"/>
            <a:ext cx="4389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Rue de la République, Paris 11e</a:t>
            </a:r>
            <a:endParaRPr lang="en-US" sz="100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>
            <a:alphaModFix amt="18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29200" y="731520"/>
            <a:ext cx="3931920" cy="274320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5394960" y="1272845"/>
            <a:ext cx="3291840" cy="1843430"/>
          </a:xfrm>
          <a:prstGeom prst="ellipse">
            <a:avLst/>
          </a:prstGeom>
          <a:solidFill>
            <a:srgbClr val="3FBA74">
              <a:alpha val="5000"/>
            </a:srgbClr>
          </a:solidFill>
          <a:ln w="6350">
            <a:solidFill>
              <a:srgbClr val="3FBA7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19"/>
          <p:cNvSpPr/>
          <p:nvPr/>
        </p:nvSpPr>
        <p:spPr>
          <a:xfrm>
            <a:off x="5852160" y="1528877"/>
            <a:ext cx="2377440" cy="1331366"/>
          </a:xfrm>
          <a:prstGeom prst="ellipse">
            <a:avLst/>
          </a:prstGeom>
          <a:solidFill>
            <a:srgbClr val="3FBA74">
              <a:alpha val="10000"/>
            </a:srgbClr>
          </a:solidFill>
          <a:ln w="6350">
            <a:solidFill>
              <a:srgbClr val="3FBA74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0"/>
          <p:cNvSpPr/>
          <p:nvPr/>
        </p:nvSpPr>
        <p:spPr>
          <a:xfrm>
            <a:off x="6309360" y="1784909"/>
            <a:ext cx="1463040" cy="819302"/>
          </a:xfrm>
          <a:prstGeom prst="ellipse">
            <a:avLst/>
          </a:prstGeom>
          <a:solidFill>
            <a:srgbClr val="3FBA74">
              <a:alpha val="18000"/>
            </a:srgbClr>
          </a:solidFill>
          <a:ln w="6350">
            <a:solidFill>
              <a:srgbClr val="3FBA74">
                <a:alpha val="33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25880"/>
          </a:xfrm>
          <a:prstGeom prst="rect">
            <a:avLst/>
          </a:prstGeom>
          <a:solidFill>
            <a:srgbClr val="0D2B1A"/>
          </a:solidFill>
          <a:ln w="12700">
            <a:solidFill>
              <a:srgbClr val="0D2B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548640" y="274320"/>
            <a:ext cx="2560320" cy="256032"/>
          </a:xfrm>
          <a:prstGeom prst="roundRect">
            <a:avLst>
              <a:gd name="adj" fmla="val 50000"/>
            </a:avLst>
          </a:prstGeom>
          <a:solidFill>
            <a:srgbClr val="3FBA74">
              <a:alpha val="18000"/>
            </a:srgbClr>
          </a:solidFill>
          <a:ln w="12700">
            <a:solidFill>
              <a:srgbClr val="3FBA7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300" dirty="0">
                <a:solidFill>
                  <a:srgbClr val="A8F0C6"/>
                </a:solidFill>
              </a:rPr>
              <a:t>L'ÉQUIPE DE BÉNÉVOLES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Notre équipe de bénévoles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965960" cy="3337560"/>
          </a:xfrm>
          <a:prstGeom prst="rect">
            <a:avLst/>
          </a:prstGeom>
          <a:solidFill>
            <a:srgbClr val="0D2B1A"/>
          </a:solidFill>
          <a:ln w="12700">
            <a:solidFill>
              <a:srgbClr val="0D2B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1965960" cy="1920240"/>
          </a:xfrm>
          <a:prstGeom prst="rect">
            <a:avLst/>
          </a:prstGeom>
          <a:solidFill>
            <a:srgbClr val="14422A"/>
          </a:solidFill>
          <a:ln w="12700">
            <a:solidFill>
              <a:srgbClr val="1442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1078992" y="1719072"/>
            <a:ext cx="914400" cy="914400"/>
          </a:xfrm>
          <a:prstGeom prst="ellipse">
            <a:avLst/>
          </a:prstGeom>
          <a:solidFill>
            <a:srgbClr val="3FBA74">
              <a:alpha val="18000"/>
            </a:srgbClr>
          </a:solidFill>
          <a:ln w="12700">
            <a:solidFill>
              <a:srgbClr val="3FBA7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1078992" y="171907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FBA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RT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3364992"/>
            <a:ext cx="1965960" cy="54864"/>
          </a:xfrm>
          <a:prstGeom prst="rect">
            <a:avLst/>
          </a:prstGeom>
          <a:solidFill>
            <a:srgbClr val="3FBA74"/>
          </a:solidFill>
          <a:ln w="12700">
            <a:solidFill>
              <a:srgbClr val="3FBA7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621792" y="345643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Roy Tamwo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1792" y="387705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F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Bénévole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21792" y="41879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F0C6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Bénévole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697480" y="1463040"/>
            <a:ext cx="1965960" cy="3337560"/>
          </a:xfrm>
          <a:prstGeom prst="rect">
            <a:avLst/>
          </a:prstGeom>
          <a:solidFill>
            <a:srgbClr val="0D2B1A"/>
          </a:solidFill>
          <a:ln w="12700">
            <a:solidFill>
              <a:srgbClr val="0D2B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2697480" y="1463040"/>
            <a:ext cx="1965960" cy="1920240"/>
          </a:xfrm>
          <a:prstGeom prst="rect">
            <a:avLst/>
          </a:prstGeom>
          <a:solidFill>
            <a:srgbClr val="14422A"/>
          </a:solidFill>
          <a:ln w="12700">
            <a:solidFill>
              <a:srgbClr val="1442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3227832" y="1719072"/>
            <a:ext cx="914400" cy="914400"/>
          </a:xfrm>
          <a:prstGeom prst="ellipse">
            <a:avLst/>
          </a:prstGeom>
          <a:solidFill>
            <a:srgbClr val="D4A832">
              <a:alpha val="18000"/>
            </a:srgbClr>
          </a:solidFill>
          <a:ln w="12700">
            <a:solidFill>
              <a:srgbClr val="D4A8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3227832" y="171907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8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2697480" y="3364992"/>
            <a:ext cx="1965960" cy="54864"/>
          </a:xfrm>
          <a:prstGeom prst="rect">
            <a:avLst/>
          </a:prstGeom>
          <a:solidFill>
            <a:srgbClr val="D4A832"/>
          </a:solidFill>
          <a:ln w="12700">
            <a:solidFill>
              <a:srgbClr val="D4A8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2770632" y="345643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Arnaud Sekhara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70632" y="387705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Bénévole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70632" y="41879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F0C6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Bénévole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846320" y="1463040"/>
            <a:ext cx="1965960" cy="3337560"/>
          </a:xfrm>
          <a:prstGeom prst="rect">
            <a:avLst/>
          </a:prstGeom>
          <a:solidFill>
            <a:srgbClr val="0D2B1A"/>
          </a:solidFill>
          <a:ln w="12700">
            <a:solidFill>
              <a:srgbClr val="0D2B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4846320" y="1463040"/>
            <a:ext cx="1965960" cy="1920240"/>
          </a:xfrm>
          <a:prstGeom prst="rect">
            <a:avLst/>
          </a:prstGeom>
          <a:solidFill>
            <a:srgbClr val="14422A"/>
          </a:solidFill>
          <a:ln w="12700">
            <a:solidFill>
              <a:srgbClr val="1442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5376672" y="1719072"/>
            <a:ext cx="914400" cy="914400"/>
          </a:xfrm>
          <a:prstGeom prst="ellipse">
            <a:avLst/>
          </a:prstGeom>
          <a:solidFill>
            <a:srgbClr val="C4602A">
              <a:alpha val="18000"/>
            </a:srgbClr>
          </a:solidFill>
          <a:ln w="12700">
            <a:solidFill>
              <a:srgbClr val="C460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5376672" y="171907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460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FT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4846320" y="3364992"/>
            <a:ext cx="1965960" cy="54864"/>
          </a:xfrm>
          <a:prstGeom prst="rect">
            <a:avLst/>
          </a:prstGeom>
          <a:solidFill>
            <a:srgbClr val="C4602A"/>
          </a:solidFill>
          <a:ln w="12700">
            <a:solidFill>
              <a:srgbClr val="C460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4919472" y="345643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Fahed Tadrist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19472" y="387705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46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Bénévole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919472" y="41879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F0C6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Bénévole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995160" y="1463040"/>
            <a:ext cx="1965960" cy="3337560"/>
          </a:xfrm>
          <a:prstGeom prst="rect">
            <a:avLst/>
          </a:prstGeom>
          <a:solidFill>
            <a:srgbClr val="0D2B1A"/>
          </a:solidFill>
          <a:ln w="12700">
            <a:solidFill>
              <a:srgbClr val="0D2B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6995160" y="1463040"/>
            <a:ext cx="1965960" cy="1920240"/>
          </a:xfrm>
          <a:prstGeom prst="rect">
            <a:avLst/>
          </a:prstGeom>
          <a:solidFill>
            <a:srgbClr val="14422A"/>
          </a:solidFill>
          <a:ln w="12700">
            <a:solidFill>
              <a:srgbClr val="1442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7525512" y="1719072"/>
            <a:ext cx="914400" cy="914400"/>
          </a:xfrm>
          <a:prstGeom prst="ellipse">
            <a:avLst/>
          </a:prstGeom>
          <a:solidFill>
            <a:srgbClr val="6DD49A">
              <a:alpha val="18000"/>
            </a:srgbClr>
          </a:solidFill>
          <a:ln w="12700">
            <a:solidFill>
              <a:srgbClr val="6DD4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7525512" y="171907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DD4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HV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6995160" y="3364992"/>
            <a:ext cx="1965960" cy="54864"/>
          </a:xfrm>
          <a:prstGeom prst="rect">
            <a:avLst/>
          </a:prstGeom>
          <a:solidFill>
            <a:srgbClr val="6DD49A"/>
          </a:solidFill>
          <a:ln w="12700">
            <a:solidFill>
              <a:srgbClr val="6DD4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7068312" y="345643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Hippolyte Vallat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068312" y="387705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D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Bénévole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068312" y="41879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F0C6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Bénévole</a:t>
            </a:r>
            <a:endParaRPr lang="en-US" sz="800" dirty="0"/>
          </a:p>
        </p:txBody>
      </p:sp>
      <p:sp>
        <p:nvSpPr>
          <p:cNvPr id="38" name="Rectangle 1">
            <a:extLst>
              <a:ext uri="{FF2B5EF4-FFF2-40B4-BE49-F238E27FC236}">
                <a16:creationId xmlns:a16="http://schemas.microsoft.com/office/drawing/2014/main" id="{025156BC-8728-6DCC-06E7-435716E2B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39" name="Rectangle 2">
            <a:extLst>
              <a:ext uri="{FF2B5EF4-FFF2-40B4-BE49-F238E27FC236}">
                <a16:creationId xmlns:a16="http://schemas.microsoft.com/office/drawing/2014/main" id="{11D8C593-63C3-8FCD-09B9-1C758C75B4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40" name="Rectangle 3">
            <a:extLst>
              <a:ext uri="{FF2B5EF4-FFF2-40B4-BE49-F238E27FC236}">
                <a16:creationId xmlns:a16="http://schemas.microsoft.com/office/drawing/2014/main" id="{F469BF2F-B735-042C-2260-3D1B5233CE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66C9587-7A76-A15D-C6E7-EF74B7015026}"/>
              </a:ext>
            </a:extLst>
          </p:cNvPr>
          <p:cNvSpPr txBox="1"/>
          <p:nvPr/>
        </p:nvSpPr>
        <p:spPr>
          <a:xfrm>
            <a:off x="4016326" y="2014847"/>
            <a:ext cx="45790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FR" dirty="0"/>
          </a:p>
        </p:txBody>
      </p:sp>
      <p:sp>
        <p:nvSpPr>
          <p:cNvPr id="45" name="AutoShape 5">
            <a:extLst>
              <a:ext uri="{FF2B5EF4-FFF2-40B4-BE49-F238E27FC236}">
                <a16:creationId xmlns:a16="http://schemas.microsoft.com/office/drawing/2014/main" id="{D612FC63-C1B9-9129-6E0C-6E7C94FE9B1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55656A36-B887-FA44-8110-4DC354AE00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632" y="1560016"/>
            <a:ext cx="1235792" cy="16483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286000" cy="256032"/>
          </a:xfrm>
          <a:prstGeom prst="roundRect">
            <a:avLst>
              <a:gd name="adj" fmla="val 50000"/>
            </a:avLst>
          </a:prstGeom>
          <a:solidFill>
            <a:srgbClr val="3FBA74">
              <a:alpha val="18000"/>
            </a:srgbClr>
          </a:solidFill>
          <a:ln w="12700">
            <a:solidFill>
              <a:srgbClr val="3FBA7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300" dirty="0">
                <a:solidFill>
                  <a:srgbClr val="A8F0C6"/>
                </a:solidFill>
              </a:rPr>
              <a:t>NOTRE SITE WEB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43891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site aussi</a:t>
            </a:r>
            <a:endParaRPr lang="en-US" sz="3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éco-conçu que</a:t>
            </a:r>
            <a:endParaRPr lang="en-US" sz="3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nos réparations.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A8F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Zéro image externe. Zéro dépendance JS lourde.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A8F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en HTML, CSS et JS vanilla pur.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3474720"/>
            <a:ext cx="2057400" cy="457200"/>
          </a:xfrm>
          <a:prstGeom prst="rect">
            <a:avLst/>
          </a:prstGeom>
          <a:solidFill>
            <a:srgbClr val="3FBA74">
              <a:alpha val="10000"/>
            </a:srgbClr>
          </a:solidFill>
          <a:ln w="6350">
            <a:solidFill>
              <a:srgbClr val="3FBA7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66928" y="348386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50" dirty="0">
                <a:solidFill>
                  <a:srgbClr val="A8F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Poids de page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66928" y="367588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A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167 Ko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51760" y="3474720"/>
            <a:ext cx="2057400" cy="457200"/>
          </a:xfrm>
          <a:prstGeom prst="rect">
            <a:avLst/>
          </a:prstGeom>
          <a:solidFill>
            <a:srgbClr val="3FBA74">
              <a:alpha val="10000"/>
            </a:srgbClr>
          </a:solidFill>
          <a:ln w="6350">
            <a:solidFill>
              <a:srgbClr val="3FBA7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2761488" y="348386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50" dirty="0">
                <a:solidFill>
                  <a:srgbClr val="A8F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Requêtes HTTP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761488" y="367588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A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req.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005072"/>
            <a:ext cx="2057400" cy="457200"/>
          </a:xfrm>
          <a:prstGeom prst="rect">
            <a:avLst/>
          </a:prstGeom>
          <a:solidFill>
            <a:srgbClr val="3FBA74">
              <a:alpha val="10000"/>
            </a:srgbClr>
          </a:solidFill>
          <a:ln w="6350">
            <a:solidFill>
              <a:srgbClr val="3FBA7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566928" y="401421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50" dirty="0">
                <a:solidFill>
                  <a:srgbClr val="A8F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Lighthouse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66928" y="420624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A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 / 100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651760" y="4005072"/>
            <a:ext cx="2057400" cy="457200"/>
          </a:xfrm>
          <a:prstGeom prst="rect">
            <a:avLst/>
          </a:prstGeom>
          <a:solidFill>
            <a:srgbClr val="3FBA74">
              <a:alpha val="10000"/>
            </a:srgbClr>
          </a:solidFill>
          <a:ln w="6350">
            <a:solidFill>
              <a:srgbClr val="3FBA7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2761488" y="401421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50" dirty="0">
                <a:solidFill>
                  <a:srgbClr val="A8F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EcoIndex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761488" y="420624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A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· 76/100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535424"/>
            <a:ext cx="2057400" cy="457200"/>
          </a:xfrm>
          <a:prstGeom prst="rect">
            <a:avLst/>
          </a:prstGeom>
          <a:solidFill>
            <a:srgbClr val="3FBA74">
              <a:alpha val="10000"/>
            </a:srgbClr>
          </a:solidFill>
          <a:ln w="6350">
            <a:solidFill>
              <a:srgbClr val="3FBA7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566928" y="454456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50" dirty="0">
                <a:solidFill>
                  <a:srgbClr val="A8F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FCP / LCP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66928" y="473659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A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0,8 s / 0,8 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651760" y="4535424"/>
            <a:ext cx="2057400" cy="457200"/>
          </a:xfrm>
          <a:prstGeom prst="rect">
            <a:avLst/>
          </a:prstGeom>
          <a:solidFill>
            <a:srgbClr val="3FBA74">
              <a:alpha val="10000"/>
            </a:srgbClr>
          </a:solidFill>
          <a:ln w="6350">
            <a:solidFill>
              <a:srgbClr val="3FBA7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2761488" y="454456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50" dirty="0">
                <a:solidFill>
                  <a:srgbClr val="A8F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761488" y="4732020"/>
            <a:ext cx="205740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D4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HTML · CSS · JS vanilla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14422A"/>
          </a:solidFill>
          <a:ln w="12700">
            <a:solidFill>
              <a:srgbClr val="1442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5212080" y="4572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Pages du site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5029200" y="1078992"/>
            <a:ext cx="36576" cy="457200"/>
          </a:xfrm>
          <a:prstGeom prst="rect">
            <a:avLst/>
          </a:prstGeom>
          <a:solidFill>
            <a:srgbClr val="3FBA74"/>
          </a:solidFill>
          <a:ln w="12700">
            <a:solidFill>
              <a:srgbClr val="3FBA7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5166360" y="107899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Accueil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66360" y="129844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F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Hero, stats animés, marquee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029200" y="1700784"/>
            <a:ext cx="36576" cy="457200"/>
          </a:xfrm>
          <a:prstGeom prst="rect">
            <a:avLst/>
          </a:prstGeom>
          <a:solidFill>
            <a:srgbClr val="3FBA74"/>
          </a:solidFill>
          <a:ln w="12700">
            <a:solidFill>
              <a:srgbClr val="3FBA7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5166360" y="1700784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Nos services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66360" y="192024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F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cards avec hover dark mode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029200" y="2322576"/>
            <a:ext cx="36576" cy="457200"/>
          </a:xfrm>
          <a:prstGeom prst="rect">
            <a:avLst/>
          </a:prstGeom>
          <a:solidFill>
            <a:srgbClr val="3FBA74"/>
          </a:solidFill>
          <a:ln w="12700">
            <a:solidFill>
              <a:srgbClr val="3FBA7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5166360" y="2322576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écolo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166360" y="254203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F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Orbites, métriques Green IT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029200" y="2944368"/>
            <a:ext cx="36576" cy="457200"/>
          </a:xfrm>
          <a:prstGeom prst="rect">
            <a:avLst/>
          </a:prstGeom>
          <a:solidFill>
            <a:srgbClr val="3FBA74"/>
          </a:solidFill>
          <a:ln w="12700">
            <a:solidFill>
              <a:srgbClr val="3FBA7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5166360" y="29443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Notre équipe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166360" y="316382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F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profils bénévoles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029200" y="3566160"/>
            <a:ext cx="36576" cy="457200"/>
          </a:xfrm>
          <a:prstGeom prst="rect">
            <a:avLst/>
          </a:prstGeom>
          <a:solidFill>
            <a:srgbClr val="3FBA74"/>
          </a:solidFill>
          <a:ln w="12700">
            <a:solidFill>
              <a:srgbClr val="3FBA7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5166360" y="35661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L'atelier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166360" y="378561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F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Horaires + localisation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029200" y="4187952"/>
            <a:ext cx="36576" cy="457200"/>
          </a:xfrm>
          <a:prstGeom prst="rect">
            <a:avLst/>
          </a:prstGeom>
          <a:solidFill>
            <a:srgbClr val="3FBA74"/>
          </a:solidFill>
          <a:ln w="12700">
            <a:solidFill>
              <a:srgbClr val="3FBA7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5166360" y="418795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Rejoindre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166360" y="440740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F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d'inscription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029200" y="4773168"/>
            <a:ext cx="3840480" cy="274320"/>
          </a:xfrm>
          <a:prstGeom prst="roundRect">
            <a:avLst>
              <a:gd name="adj" fmla="val 26667"/>
            </a:avLst>
          </a:prstGeom>
          <a:solidFill>
            <a:srgbClr val="3FBA74">
              <a:alpha val="22000"/>
            </a:srgbClr>
          </a:solidFill>
          <a:ln w="6350">
            <a:solidFill>
              <a:srgbClr val="3FBA7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5029200" y="47731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F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eco-concu  ·  EcoIndex B (76/100)  ·  Lighthouse 99/100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286000" cy="256032"/>
          </a:xfrm>
          <a:prstGeom prst="roundRect">
            <a:avLst>
              <a:gd name="adj" fmla="val 50000"/>
            </a:avLst>
          </a:prstGeom>
          <a:solidFill>
            <a:srgbClr val="3FBA74">
              <a:alpha val="18000"/>
            </a:srgbClr>
          </a:solidFill>
          <a:ln w="12700">
            <a:solidFill>
              <a:srgbClr val="3FBA7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300" dirty="0"/>
              <a:t>REJOINDRE VELOREPARE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2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Devenez membre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0D2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l'association.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44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L'adhésion est libre et gratuite. Vous choisissez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44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donner votre temps, ou ce que vous voulez.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2D8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souhaite…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4389120" cy="347472"/>
          </a:xfrm>
          <a:prstGeom prst="roundRect">
            <a:avLst>
              <a:gd name="adj" fmla="val 15789"/>
            </a:avLst>
          </a:prstGeom>
          <a:solidFill>
            <a:srgbClr val="E8DFC8"/>
          </a:solidFill>
          <a:ln w="12700">
            <a:solidFill>
              <a:srgbClr val="E8DFC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658368" y="2962656"/>
            <a:ext cx="201168" cy="201168"/>
          </a:xfrm>
          <a:prstGeom prst="ellipse">
            <a:avLst/>
          </a:prstGeom>
          <a:solidFill>
            <a:srgbClr val="3FBA74">
              <a:alpha val="50000"/>
            </a:srgbClr>
          </a:solidFill>
          <a:ln w="12700">
            <a:solidFill>
              <a:srgbClr val="3FBA7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950976" y="28803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 réparer mon vélo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4389120" cy="347472"/>
          </a:xfrm>
          <a:prstGeom prst="roundRect">
            <a:avLst>
              <a:gd name="adj" fmla="val 15789"/>
            </a:avLst>
          </a:prstGeom>
          <a:solidFill>
            <a:srgbClr val="E8DFC8"/>
          </a:solidFill>
          <a:ln w="12700">
            <a:solidFill>
              <a:srgbClr val="E8DFC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658368" y="3374136"/>
            <a:ext cx="201168" cy="201168"/>
          </a:xfrm>
          <a:prstGeom prst="ellipse">
            <a:avLst/>
          </a:prstGeom>
          <a:solidFill>
            <a:srgbClr val="3FBA74">
              <a:alpha val="50000"/>
            </a:srgbClr>
          </a:solidFill>
          <a:ln w="12700">
            <a:solidFill>
              <a:srgbClr val="3FBA7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950976" y="32918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Apprendre à réparer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4389120" cy="347472"/>
          </a:xfrm>
          <a:prstGeom prst="roundRect">
            <a:avLst>
              <a:gd name="adj" fmla="val 15789"/>
            </a:avLst>
          </a:prstGeom>
          <a:solidFill>
            <a:srgbClr val="E8DFC8"/>
          </a:solidFill>
          <a:ln w="12700">
            <a:solidFill>
              <a:srgbClr val="E8DFC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658368" y="3785616"/>
            <a:ext cx="201168" cy="201168"/>
          </a:xfrm>
          <a:prstGeom prst="ellipse">
            <a:avLst/>
          </a:prstGeom>
          <a:solidFill>
            <a:srgbClr val="3FBA74">
              <a:alpha val="50000"/>
            </a:srgbClr>
          </a:solidFill>
          <a:ln w="12700">
            <a:solidFill>
              <a:srgbClr val="3FBA7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950976" y="37033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Devenir bénévole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114800"/>
            <a:ext cx="4389120" cy="347472"/>
          </a:xfrm>
          <a:prstGeom prst="roundRect">
            <a:avLst>
              <a:gd name="adj" fmla="val 15789"/>
            </a:avLst>
          </a:prstGeom>
          <a:solidFill>
            <a:srgbClr val="E8DFC8"/>
          </a:solidFill>
          <a:ln w="12700">
            <a:solidFill>
              <a:srgbClr val="E8DFC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658368" y="4197096"/>
            <a:ext cx="201168" cy="201168"/>
          </a:xfrm>
          <a:prstGeom prst="ellipse">
            <a:avLst/>
          </a:prstGeom>
          <a:solidFill>
            <a:srgbClr val="3FBA74">
              <a:alpha val="50000"/>
            </a:srgbClr>
          </a:solidFill>
          <a:ln w="12700">
            <a:solidFill>
              <a:srgbClr val="3FBA7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950976" y="41148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 un don de vélo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526280"/>
            <a:ext cx="4389120" cy="347472"/>
          </a:xfrm>
          <a:prstGeom prst="roundRect">
            <a:avLst>
              <a:gd name="adj" fmla="val 15789"/>
            </a:avLst>
          </a:prstGeom>
          <a:solidFill>
            <a:srgbClr val="E8DFC8"/>
          </a:solidFill>
          <a:ln w="12700">
            <a:solidFill>
              <a:srgbClr val="E8DFC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658368" y="4608576"/>
            <a:ext cx="201168" cy="201168"/>
          </a:xfrm>
          <a:prstGeom prst="ellipse">
            <a:avLst/>
          </a:prstGeom>
          <a:solidFill>
            <a:srgbClr val="3FBA74">
              <a:alpha val="50000"/>
            </a:srgbClr>
          </a:solidFill>
          <a:ln w="12700">
            <a:solidFill>
              <a:srgbClr val="3FBA7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950976" y="45262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Soutenir l'association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0" y="0"/>
            <a:ext cx="3657600" cy="5143500"/>
          </a:xfrm>
          <a:prstGeom prst="rect">
            <a:avLst/>
          </a:prstGeom>
          <a:solidFill>
            <a:srgbClr val="0D2B1A"/>
          </a:solidFill>
          <a:ln w="12700">
            <a:solidFill>
              <a:srgbClr val="0D2B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5486400" y="1536192"/>
            <a:ext cx="3657600" cy="2048256"/>
          </a:xfrm>
          <a:prstGeom prst="ellipse">
            <a:avLst/>
          </a:prstGeom>
          <a:solidFill>
            <a:srgbClr val="3FBA74">
              <a:alpha val="5000"/>
            </a:srgbClr>
          </a:solidFill>
          <a:ln w="6350">
            <a:solidFill>
              <a:srgbClr val="3FBA7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5943600" y="1792224"/>
            <a:ext cx="2743200" cy="1536192"/>
          </a:xfrm>
          <a:prstGeom prst="ellipse">
            <a:avLst/>
          </a:prstGeom>
          <a:solidFill>
            <a:srgbClr val="3FBA74">
              <a:alpha val="9000"/>
            </a:srgbClr>
          </a:solidFill>
          <a:ln w="6350">
            <a:solidFill>
              <a:srgbClr val="3FBA74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6400800" y="2048256"/>
            <a:ext cx="1828800" cy="1024128"/>
          </a:xfrm>
          <a:prstGeom prst="ellipse">
            <a:avLst/>
          </a:prstGeom>
          <a:solidFill>
            <a:srgbClr val="3FBA74">
              <a:alpha val="15000"/>
            </a:srgbClr>
          </a:solidFill>
          <a:ln w="6350">
            <a:solidFill>
              <a:srgbClr val="3FBA7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6812280" y="2278685"/>
            <a:ext cx="1005840" cy="563270"/>
          </a:xfrm>
          <a:prstGeom prst="ellipse">
            <a:avLst/>
          </a:prstGeom>
          <a:solidFill>
            <a:srgbClr val="3FBA74">
              <a:alpha val="24000"/>
            </a:srgbClr>
          </a:solidFill>
          <a:ln w="6350">
            <a:solidFill>
              <a:srgbClr val="3FBA74">
                <a:alpha val="39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59168" y="2340864"/>
            <a:ext cx="502920" cy="50292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5577840" y="100584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Rejoignez</a:t>
            </a:r>
            <a:endParaRPr lang="en-US" sz="2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203</a:t>
            </a:r>
            <a:endParaRPr lang="en-US" sz="2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membres actifs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5577840" y="25146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3FBA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 redonnons vie</a:t>
            </a:r>
            <a:endParaRPr lang="en-US" sz="13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3FBA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aux deux-roues.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5577840" y="43891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F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contact@velorepare.fr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2926080" cy="256032"/>
          </a:xfrm>
          <a:prstGeom prst="roundRect">
            <a:avLst>
              <a:gd name="adj" fmla="val 50000"/>
            </a:avLst>
          </a:prstGeom>
          <a:solidFill>
            <a:srgbClr val="3FBA74">
              <a:alpha val="18000"/>
            </a:srgbClr>
          </a:solidFill>
          <a:ln w="12700">
            <a:solidFill>
              <a:srgbClr val="3FBA7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300" dirty="0"/>
              <a:t>ANALYSE EMPREINTE CARBONE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2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Mesures réelles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0D2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 4 mai 2026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kern="0" spc="50" dirty="0">
                <a:solidFill>
                  <a:srgbClr val="2D8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utilisés : EcoIndex · PageSpeed Insights · Lighthouse 13.0.1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2697480" cy="292608"/>
          </a:xfrm>
          <a:prstGeom prst="rect">
            <a:avLst/>
          </a:prstGeom>
          <a:solidFill>
            <a:srgbClr val="0D2B1A"/>
          </a:solidFill>
          <a:ln w="12700">
            <a:solidFill>
              <a:srgbClr val="0D2B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3F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0" y="1828800"/>
            <a:ext cx="2240280" cy="292608"/>
          </a:xfrm>
          <a:prstGeom prst="rect">
            <a:avLst/>
          </a:prstGeom>
          <a:solidFill>
            <a:srgbClr val="0D2B1A"/>
          </a:solidFill>
          <a:ln w="12700">
            <a:solidFill>
              <a:srgbClr val="0D2B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291840" y="182880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3F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486400" y="1828800"/>
            <a:ext cx="1965960" cy="292608"/>
          </a:xfrm>
          <a:prstGeom prst="rect">
            <a:avLst/>
          </a:prstGeom>
          <a:solidFill>
            <a:srgbClr val="0D2B1A"/>
          </a:solidFill>
          <a:ln w="12700">
            <a:solidFill>
              <a:srgbClr val="0D2B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5577840" y="182880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3F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7498080" y="1828800"/>
            <a:ext cx="1417320" cy="292608"/>
          </a:xfrm>
          <a:prstGeom prst="rect">
            <a:avLst/>
          </a:prstGeom>
          <a:solidFill>
            <a:srgbClr val="0D2B1A"/>
          </a:solidFill>
          <a:ln w="12700">
            <a:solidFill>
              <a:srgbClr val="0D2B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7589520" y="182880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3F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2148840"/>
            <a:ext cx="8458200" cy="301752"/>
          </a:xfrm>
          <a:prstGeom prst="rect">
            <a:avLst/>
          </a:prstGeom>
          <a:solidFill>
            <a:srgbClr val="E8DFC8"/>
          </a:solidFill>
          <a:ln w="12700">
            <a:solidFill>
              <a:srgbClr val="E8DFC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548640" y="2148840"/>
            <a:ext cx="2606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Poids de la page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91840" y="2148840"/>
            <a:ext cx="2148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46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~1 200 Ko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577840" y="2148840"/>
            <a:ext cx="1874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86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167 Ko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543800" y="2148840"/>
            <a:ext cx="1325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F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− 86 %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478024"/>
            <a:ext cx="8458200" cy="301752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548640" y="2478024"/>
            <a:ext cx="2606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Requêtes HTTP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91840" y="2478024"/>
            <a:ext cx="2148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46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~42 req.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577840" y="2478024"/>
            <a:ext cx="1874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86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req.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543800" y="2478024"/>
            <a:ext cx="1325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F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− 88 %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2807208"/>
            <a:ext cx="8458200" cy="301752"/>
          </a:xfrm>
          <a:prstGeom prst="rect">
            <a:avLst/>
          </a:prstGeom>
          <a:solidFill>
            <a:srgbClr val="E8DFC8"/>
          </a:solidFill>
          <a:ln w="12700">
            <a:solidFill>
              <a:srgbClr val="E8DFC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548640" y="2807208"/>
            <a:ext cx="2606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Lighthouse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91840" y="2807208"/>
            <a:ext cx="2148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46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~48 / 100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577840" y="2807208"/>
            <a:ext cx="1874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86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 / 100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543800" y="2807208"/>
            <a:ext cx="1325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F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+ 51 pts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136392"/>
            <a:ext cx="8458200" cy="301752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548640" y="3136392"/>
            <a:ext cx="2606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EcoIndex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291840" y="3136392"/>
            <a:ext cx="2148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46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(40/100)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577840" y="3136392"/>
            <a:ext cx="1874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86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(76/100)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543800" y="3136392"/>
            <a:ext cx="1325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F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+ 36 pts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3465576"/>
            <a:ext cx="8458200" cy="301752"/>
          </a:xfrm>
          <a:prstGeom prst="rect">
            <a:avLst/>
          </a:prstGeom>
          <a:solidFill>
            <a:srgbClr val="E8DFC8"/>
          </a:solidFill>
          <a:ln w="12700">
            <a:solidFill>
              <a:srgbClr val="E8DFC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548640" y="3465576"/>
            <a:ext cx="2606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FCP (First Cont. Paint)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291840" y="3465576"/>
            <a:ext cx="2148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46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~3,2 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77840" y="3465576"/>
            <a:ext cx="1874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86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0,8 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543800" y="3465576"/>
            <a:ext cx="1325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F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− 75 %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57200" y="3794760"/>
            <a:ext cx="8458200" cy="301752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548640" y="3794760"/>
            <a:ext cx="2606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LCP (Largest Cont. Paint)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291840" y="3794760"/>
            <a:ext cx="2148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46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~4,5 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577840" y="3794760"/>
            <a:ext cx="1874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86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0,8 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543800" y="3794760"/>
            <a:ext cx="1325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F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− 82 %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7200" y="4123944"/>
            <a:ext cx="8458200" cy="301752"/>
          </a:xfrm>
          <a:prstGeom prst="rect">
            <a:avLst/>
          </a:prstGeom>
          <a:solidFill>
            <a:srgbClr val="E8DFC8"/>
          </a:solidFill>
          <a:ln w="12700">
            <a:solidFill>
              <a:srgbClr val="E8DFC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548640" y="4123944"/>
            <a:ext cx="2606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Blocking Time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291840" y="4123944"/>
            <a:ext cx="2148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46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~300 ms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577840" y="4123944"/>
            <a:ext cx="1874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86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ms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7543800" y="4123944"/>
            <a:ext cx="1325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F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− 100 %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57200" y="4453128"/>
            <a:ext cx="8458200" cy="301752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548640" y="4453128"/>
            <a:ext cx="2606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Complexité DOM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291840" y="4453128"/>
            <a:ext cx="2148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46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~900 él.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577840" y="4453128"/>
            <a:ext cx="1874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86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480 él.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7543800" y="4453128"/>
            <a:ext cx="1325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F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− 47 %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57200" y="4828032"/>
            <a:ext cx="8458200" cy="256032"/>
          </a:xfrm>
          <a:prstGeom prst="roundRect">
            <a:avLst>
              <a:gd name="adj" fmla="val 21429"/>
            </a:avLst>
          </a:prstGeom>
          <a:solidFill>
            <a:srgbClr val="3FBA74">
              <a:alpha val="15000"/>
            </a:srgbClr>
          </a:solidFill>
          <a:ln w="6350">
            <a:solidFill>
              <a:srgbClr val="3FBA7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5" name="Text 53"/>
          <p:cNvSpPr/>
          <p:nvPr/>
        </p:nvSpPr>
        <p:spPr>
          <a:xfrm>
            <a:off x="548640" y="4828032"/>
            <a:ext cx="8275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" dirty="0">
                <a:solidFill>
                  <a:srgbClr val="2D8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Classement EcoIndex : 100 769 / 594 930 — Top 17 % des sites web mondiaux  ·  Hebergement vert : GitHub Pages (energie renouvelable)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42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2377440" cy="256032"/>
          </a:xfrm>
          <a:prstGeom prst="roundRect">
            <a:avLst>
              <a:gd name="adj" fmla="val 50000"/>
            </a:avLst>
          </a:prstGeom>
          <a:solidFill>
            <a:srgbClr val="3FBA74">
              <a:alpha val="18000"/>
            </a:srgbClr>
          </a:solidFill>
          <a:ln w="12700">
            <a:solidFill>
              <a:srgbClr val="3FBA7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300" dirty="0">
                <a:solidFill>
                  <a:srgbClr val="A8F0C6"/>
                </a:solidFill>
              </a:rPr>
              <a:t>TESTS &amp; VALIDATION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 scénarios testés,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 validés.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931920" cy="365760"/>
          </a:xfrm>
          <a:prstGeom prst="rect">
            <a:avLst/>
          </a:prstGeom>
          <a:solidFill>
            <a:srgbClr val="0D2B1A">
              <a:alpha val="55000"/>
            </a:srgbClr>
          </a:solidFill>
          <a:ln w="6350">
            <a:solidFill>
              <a:srgbClr val="3FBA7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530352" y="1755648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3FBA74">
              <a:alpha val="25000"/>
            </a:srgbClr>
          </a:solidFill>
          <a:ln w="12700">
            <a:solidFill>
              <a:srgbClr val="3FBA7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30352" y="175564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F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41248" y="16916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membre (valide)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931920" y="1764792"/>
            <a:ext cx="347472" cy="201168"/>
          </a:xfrm>
          <a:prstGeom prst="roundRect">
            <a:avLst>
              <a:gd name="adj" fmla="val 27273"/>
            </a:avLst>
          </a:prstGeom>
          <a:solidFill>
            <a:srgbClr val="3FBA74">
              <a:alpha val="30000"/>
            </a:srgbClr>
          </a:solidFill>
          <a:ln w="12700">
            <a:solidFill>
              <a:srgbClr val="3FBA7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931920" y="1764792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F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57200" y="2130552"/>
            <a:ext cx="3931920" cy="365760"/>
          </a:xfrm>
          <a:prstGeom prst="rect">
            <a:avLst/>
          </a:prstGeom>
          <a:solidFill>
            <a:srgbClr val="0D2B1A">
              <a:alpha val="55000"/>
            </a:srgbClr>
          </a:solidFill>
          <a:ln w="6350">
            <a:solidFill>
              <a:srgbClr val="3FBA7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530352" y="2194560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3FBA74">
              <a:alpha val="25000"/>
            </a:srgbClr>
          </a:solidFill>
          <a:ln w="12700">
            <a:solidFill>
              <a:srgbClr val="3FBA7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530352" y="219456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F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841248" y="213055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membre (email vide)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931920" y="2203704"/>
            <a:ext cx="347472" cy="201168"/>
          </a:xfrm>
          <a:prstGeom prst="roundRect">
            <a:avLst>
              <a:gd name="adj" fmla="val 27273"/>
            </a:avLst>
          </a:prstGeom>
          <a:solidFill>
            <a:srgbClr val="3FBA74">
              <a:alpha val="30000"/>
            </a:srgbClr>
          </a:solidFill>
          <a:ln w="12700">
            <a:solidFill>
              <a:srgbClr val="3FBA7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3931920" y="2203704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F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57200" y="2569464"/>
            <a:ext cx="3931920" cy="365760"/>
          </a:xfrm>
          <a:prstGeom prst="rect">
            <a:avLst/>
          </a:prstGeom>
          <a:solidFill>
            <a:srgbClr val="0D2B1A">
              <a:alpha val="55000"/>
            </a:srgbClr>
          </a:solidFill>
          <a:ln w="6350">
            <a:solidFill>
              <a:srgbClr val="3FBA7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530352" y="2633472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3FBA74">
              <a:alpha val="25000"/>
            </a:srgbClr>
          </a:solidFill>
          <a:ln w="12700">
            <a:solidFill>
              <a:srgbClr val="3FBA7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530352" y="263347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F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841248" y="256946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membre (doublon email)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931920" y="2642616"/>
            <a:ext cx="347472" cy="201168"/>
          </a:xfrm>
          <a:prstGeom prst="roundRect">
            <a:avLst>
              <a:gd name="adj" fmla="val 27273"/>
            </a:avLst>
          </a:prstGeom>
          <a:solidFill>
            <a:srgbClr val="3FBA74">
              <a:alpha val="30000"/>
            </a:srgbClr>
          </a:solidFill>
          <a:ln w="12700">
            <a:solidFill>
              <a:srgbClr val="3FBA7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3931920" y="2642616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F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57200" y="3008376"/>
            <a:ext cx="3931920" cy="365760"/>
          </a:xfrm>
          <a:prstGeom prst="rect">
            <a:avLst/>
          </a:prstGeom>
          <a:solidFill>
            <a:srgbClr val="0D2B1A">
              <a:alpha val="55000"/>
            </a:srgbClr>
          </a:solidFill>
          <a:ln w="6350">
            <a:solidFill>
              <a:srgbClr val="3FBA7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530352" y="3072384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3FBA74">
              <a:alpha val="25000"/>
            </a:srgbClr>
          </a:solidFill>
          <a:ln w="12700">
            <a:solidFill>
              <a:srgbClr val="3FBA7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530352" y="307238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F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841248" y="3008376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 membre existant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931920" y="3081528"/>
            <a:ext cx="347472" cy="201168"/>
          </a:xfrm>
          <a:prstGeom prst="roundRect">
            <a:avLst>
              <a:gd name="adj" fmla="val 27273"/>
            </a:avLst>
          </a:prstGeom>
          <a:solidFill>
            <a:srgbClr val="3FBA74">
              <a:alpha val="30000"/>
            </a:srgbClr>
          </a:solidFill>
          <a:ln w="12700">
            <a:solidFill>
              <a:srgbClr val="3FBA7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3931920" y="3081528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F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457200" y="3447288"/>
            <a:ext cx="3931920" cy="365760"/>
          </a:xfrm>
          <a:prstGeom prst="rect">
            <a:avLst/>
          </a:prstGeom>
          <a:solidFill>
            <a:srgbClr val="0D2B1A">
              <a:alpha val="55000"/>
            </a:srgbClr>
          </a:solidFill>
          <a:ln w="6350">
            <a:solidFill>
              <a:srgbClr val="3FBA7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530352" y="3511296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3FBA74">
              <a:alpha val="25000"/>
            </a:srgbClr>
          </a:solidFill>
          <a:ln w="12700">
            <a:solidFill>
              <a:srgbClr val="3FBA7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530352" y="351129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F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841248" y="344728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Supprimer avec confirmation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931920" y="3520440"/>
            <a:ext cx="347472" cy="201168"/>
          </a:xfrm>
          <a:prstGeom prst="roundRect">
            <a:avLst>
              <a:gd name="adj" fmla="val 27273"/>
            </a:avLst>
          </a:prstGeom>
          <a:solidFill>
            <a:srgbClr val="3FBA74">
              <a:alpha val="30000"/>
            </a:srgbClr>
          </a:solidFill>
          <a:ln w="12700">
            <a:solidFill>
              <a:srgbClr val="3FBA7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3931920" y="3520440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F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457200" y="3886200"/>
            <a:ext cx="3931920" cy="365760"/>
          </a:xfrm>
          <a:prstGeom prst="rect">
            <a:avLst/>
          </a:prstGeom>
          <a:solidFill>
            <a:srgbClr val="0D2B1A">
              <a:alpha val="55000"/>
            </a:srgbClr>
          </a:solidFill>
          <a:ln w="6350">
            <a:solidFill>
              <a:srgbClr val="3FBA7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530352" y="3950208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3FBA74">
              <a:alpha val="25000"/>
            </a:srgbClr>
          </a:solidFill>
          <a:ln w="12700">
            <a:solidFill>
              <a:srgbClr val="3FBA7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530352" y="395020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F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841248" y="3886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paginée (5/page)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931920" y="3959352"/>
            <a:ext cx="347472" cy="201168"/>
          </a:xfrm>
          <a:prstGeom prst="roundRect">
            <a:avLst>
              <a:gd name="adj" fmla="val 27273"/>
            </a:avLst>
          </a:prstGeom>
          <a:solidFill>
            <a:srgbClr val="3FBA74">
              <a:alpha val="30000"/>
            </a:srgbClr>
          </a:solidFill>
          <a:ln w="12700">
            <a:solidFill>
              <a:srgbClr val="3FBA7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3931920" y="3959352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F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457200" y="4325112"/>
            <a:ext cx="3931920" cy="365760"/>
          </a:xfrm>
          <a:prstGeom prst="rect">
            <a:avLst/>
          </a:prstGeom>
          <a:solidFill>
            <a:srgbClr val="0D2B1A">
              <a:alpha val="55000"/>
            </a:srgbClr>
          </a:solidFill>
          <a:ln w="6350">
            <a:solidFill>
              <a:srgbClr val="3FBA7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Shape 40"/>
          <p:cNvSpPr/>
          <p:nvPr/>
        </p:nvSpPr>
        <p:spPr>
          <a:xfrm>
            <a:off x="530352" y="4389120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3FBA74">
              <a:alpha val="25000"/>
            </a:srgbClr>
          </a:solidFill>
          <a:ln w="12700">
            <a:solidFill>
              <a:srgbClr val="3FBA7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530352" y="438912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F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841248" y="432511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réparation liée membre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931920" y="4398264"/>
            <a:ext cx="347472" cy="201168"/>
          </a:xfrm>
          <a:prstGeom prst="roundRect">
            <a:avLst>
              <a:gd name="adj" fmla="val 27273"/>
            </a:avLst>
          </a:prstGeom>
          <a:solidFill>
            <a:srgbClr val="3FBA74">
              <a:alpha val="30000"/>
            </a:srgbClr>
          </a:solidFill>
          <a:ln w="12700">
            <a:solidFill>
              <a:srgbClr val="3FBA7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3931920" y="4398264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F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4572000" y="1691640"/>
            <a:ext cx="4389120" cy="365760"/>
          </a:xfrm>
          <a:prstGeom prst="rect">
            <a:avLst/>
          </a:prstGeom>
          <a:solidFill>
            <a:srgbClr val="0D2B1A">
              <a:alpha val="55000"/>
            </a:srgbClr>
          </a:solidFill>
          <a:ln w="6350">
            <a:solidFill>
              <a:srgbClr val="3FBA7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Shape 46"/>
          <p:cNvSpPr/>
          <p:nvPr/>
        </p:nvSpPr>
        <p:spPr>
          <a:xfrm>
            <a:off x="4645152" y="1755648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3FBA74">
              <a:alpha val="25000"/>
            </a:srgbClr>
          </a:solidFill>
          <a:ln w="12700">
            <a:solidFill>
              <a:srgbClr val="3FBA7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" name="Text 47"/>
          <p:cNvSpPr/>
          <p:nvPr/>
        </p:nvSpPr>
        <p:spPr>
          <a:xfrm>
            <a:off x="4645152" y="175564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F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4956048" y="16916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 statut réparation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8549640" y="1764792"/>
            <a:ext cx="347472" cy="201168"/>
          </a:xfrm>
          <a:prstGeom prst="roundRect">
            <a:avLst>
              <a:gd name="adj" fmla="val 27273"/>
            </a:avLst>
          </a:prstGeom>
          <a:solidFill>
            <a:srgbClr val="3FBA74">
              <a:alpha val="30000"/>
            </a:srgbClr>
          </a:solidFill>
          <a:ln w="12700">
            <a:solidFill>
              <a:srgbClr val="3FBA7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2" name="Text 50"/>
          <p:cNvSpPr/>
          <p:nvPr/>
        </p:nvSpPr>
        <p:spPr>
          <a:xfrm>
            <a:off x="8549640" y="1764792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F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4572000" y="2130552"/>
            <a:ext cx="4389120" cy="365760"/>
          </a:xfrm>
          <a:prstGeom prst="rect">
            <a:avLst/>
          </a:prstGeom>
          <a:solidFill>
            <a:srgbClr val="0D2B1A">
              <a:alpha val="55000"/>
            </a:srgbClr>
          </a:solidFill>
          <a:ln w="6350">
            <a:solidFill>
              <a:srgbClr val="3FBA7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4" name="Shape 52"/>
          <p:cNvSpPr/>
          <p:nvPr/>
        </p:nvSpPr>
        <p:spPr>
          <a:xfrm>
            <a:off x="4645152" y="2194560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3FBA74">
              <a:alpha val="25000"/>
            </a:srgbClr>
          </a:solidFill>
          <a:ln w="12700">
            <a:solidFill>
              <a:srgbClr val="3FBA7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5" name="Text 53"/>
          <p:cNvSpPr/>
          <p:nvPr/>
        </p:nvSpPr>
        <p:spPr>
          <a:xfrm>
            <a:off x="4645152" y="219456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F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4956048" y="213055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admin (correct)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8549640" y="2203704"/>
            <a:ext cx="347472" cy="201168"/>
          </a:xfrm>
          <a:prstGeom prst="roundRect">
            <a:avLst>
              <a:gd name="adj" fmla="val 27273"/>
            </a:avLst>
          </a:prstGeom>
          <a:solidFill>
            <a:srgbClr val="3FBA74">
              <a:alpha val="30000"/>
            </a:srgbClr>
          </a:solidFill>
          <a:ln w="12700">
            <a:solidFill>
              <a:srgbClr val="3FBA7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8" name="Text 56"/>
          <p:cNvSpPr/>
          <p:nvPr/>
        </p:nvSpPr>
        <p:spPr>
          <a:xfrm>
            <a:off x="8549640" y="2203704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F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4572000" y="2569464"/>
            <a:ext cx="4389120" cy="365760"/>
          </a:xfrm>
          <a:prstGeom prst="rect">
            <a:avLst/>
          </a:prstGeom>
          <a:solidFill>
            <a:srgbClr val="0D2B1A">
              <a:alpha val="55000"/>
            </a:srgbClr>
          </a:solidFill>
          <a:ln w="6350">
            <a:solidFill>
              <a:srgbClr val="3FBA7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0" name="Shape 58"/>
          <p:cNvSpPr/>
          <p:nvPr/>
        </p:nvSpPr>
        <p:spPr>
          <a:xfrm>
            <a:off x="4645152" y="2633472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3FBA74">
              <a:alpha val="25000"/>
            </a:srgbClr>
          </a:solidFill>
          <a:ln w="12700">
            <a:solidFill>
              <a:srgbClr val="3FBA7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1" name="Text 59"/>
          <p:cNvSpPr/>
          <p:nvPr/>
        </p:nvSpPr>
        <p:spPr>
          <a:xfrm>
            <a:off x="4645152" y="263347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F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4956048" y="256946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(mauvais MDP)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8549640" y="2642616"/>
            <a:ext cx="347472" cy="201168"/>
          </a:xfrm>
          <a:prstGeom prst="roundRect">
            <a:avLst>
              <a:gd name="adj" fmla="val 27273"/>
            </a:avLst>
          </a:prstGeom>
          <a:solidFill>
            <a:srgbClr val="3FBA74">
              <a:alpha val="30000"/>
            </a:srgbClr>
          </a:solidFill>
          <a:ln w="12700">
            <a:solidFill>
              <a:srgbClr val="3FBA7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4" name="Text 62"/>
          <p:cNvSpPr/>
          <p:nvPr/>
        </p:nvSpPr>
        <p:spPr>
          <a:xfrm>
            <a:off x="8549640" y="2642616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F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4572000" y="3008376"/>
            <a:ext cx="4389120" cy="365760"/>
          </a:xfrm>
          <a:prstGeom prst="rect">
            <a:avLst/>
          </a:prstGeom>
          <a:solidFill>
            <a:srgbClr val="0D2B1A">
              <a:alpha val="55000"/>
            </a:srgbClr>
          </a:solidFill>
          <a:ln w="6350">
            <a:solidFill>
              <a:srgbClr val="3FBA7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6" name="Shape 64"/>
          <p:cNvSpPr/>
          <p:nvPr/>
        </p:nvSpPr>
        <p:spPr>
          <a:xfrm>
            <a:off x="4645152" y="3072384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3FBA74">
              <a:alpha val="25000"/>
            </a:srgbClr>
          </a:solidFill>
          <a:ln w="12700">
            <a:solidFill>
              <a:srgbClr val="3FBA7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7" name="Text 65"/>
          <p:cNvSpPr/>
          <p:nvPr/>
        </p:nvSpPr>
        <p:spPr>
          <a:xfrm>
            <a:off x="4645152" y="307238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F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4956048" y="300837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admin sans connexion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8549640" y="3081528"/>
            <a:ext cx="347472" cy="201168"/>
          </a:xfrm>
          <a:prstGeom prst="roundRect">
            <a:avLst>
              <a:gd name="adj" fmla="val 27273"/>
            </a:avLst>
          </a:prstGeom>
          <a:solidFill>
            <a:srgbClr val="3FBA74">
              <a:alpha val="30000"/>
            </a:srgbClr>
          </a:solidFill>
          <a:ln w="12700">
            <a:solidFill>
              <a:srgbClr val="3FBA7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0" name="Text 68"/>
          <p:cNvSpPr/>
          <p:nvPr/>
        </p:nvSpPr>
        <p:spPr>
          <a:xfrm>
            <a:off x="8549640" y="3081528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F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4572000" y="3447288"/>
            <a:ext cx="4389120" cy="365760"/>
          </a:xfrm>
          <a:prstGeom prst="rect">
            <a:avLst/>
          </a:prstGeom>
          <a:solidFill>
            <a:srgbClr val="0D2B1A">
              <a:alpha val="55000"/>
            </a:srgbClr>
          </a:solidFill>
          <a:ln w="6350">
            <a:solidFill>
              <a:srgbClr val="3FBA7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2" name="Shape 70"/>
          <p:cNvSpPr/>
          <p:nvPr/>
        </p:nvSpPr>
        <p:spPr>
          <a:xfrm>
            <a:off x="4645152" y="3511296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3FBA74">
              <a:alpha val="25000"/>
            </a:srgbClr>
          </a:solidFill>
          <a:ln w="12700">
            <a:solidFill>
              <a:srgbClr val="3FBA7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3" name="Text 71"/>
          <p:cNvSpPr/>
          <p:nvPr/>
        </p:nvSpPr>
        <p:spPr>
          <a:xfrm>
            <a:off x="4645152" y="351129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F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4956048" y="344728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public incomplet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8549640" y="3520440"/>
            <a:ext cx="347472" cy="201168"/>
          </a:xfrm>
          <a:prstGeom prst="roundRect">
            <a:avLst>
              <a:gd name="adj" fmla="val 27273"/>
            </a:avLst>
          </a:prstGeom>
          <a:solidFill>
            <a:srgbClr val="3FBA74">
              <a:alpha val="30000"/>
            </a:srgbClr>
          </a:solidFill>
          <a:ln w="12700">
            <a:solidFill>
              <a:srgbClr val="3FBA7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6" name="Text 74"/>
          <p:cNvSpPr/>
          <p:nvPr/>
        </p:nvSpPr>
        <p:spPr>
          <a:xfrm>
            <a:off x="8549640" y="3520440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F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4572000" y="3886200"/>
            <a:ext cx="4389120" cy="365760"/>
          </a:xfrm>
          <a:prstGeom prst="rect">
            <a:avLst/>
          </a:prstGeom>
          <a:solidFill>
            <a:srgbClr val="0D2B1A">
              <a:alpha val="55000"/>
            </a:srgbClr>
          </a:solidFill>
          <a:ln w="6350">
            <a:solidFill>
              <a:srgbClr val="3FBA7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8" name="Shape 76"/>
          <p:cNvSpPr/>
          <p:nvPr/>
        </p:nvSpPr>
        <p:spPr>
          <a:xfrm>
            <a:off x="4645152" y="3950208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3FBA74">
              <a:alpha val="25000"/>
            </a:srgbClr>
          </a:solidFill>
          <a:ln w="12700">
            <a:solidFill>
              <a:srgbClr val="3FBA7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9" name="Text 77"/>
          <p:cNvSpPr/>
          <p:nvPr/>
        </p:nvSpPr>
        <p:spPr>
          <a:xfrm>
            <a:off x="4645152" y="395020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F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4956048" y="3886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membres temps réel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8549640" y="3959352"/>
            <a:ext cx="347472" cy="201168"/>
          </a:xfrm>
          <a:prstGeom prst="roundRect">
            <a:avLst>
              <a:gd name="adj" fmla="val 27273"/>
            </a:avLst>
          </a:prstGeom>
          <a:solidFill>
            <a:srgbClr val="3FBA74">
              <a:alpha val="30000"/>
            </a:srgbClr>
          </a:solidFill>
          <a:ln w="12700">
            <a:solidFill>
              <a:srgbClr val="3FBA7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2" name="Text 80"/>
          <p:cNvSpPr/>
          <p:nvPr/>
        </p:nvSpPr>
        <p:spPr>
          <a:xfrm>
            <a:off x="8549640" y="3959352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F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700" dirty="0"/>
          </a:p>
        </p:txBody>
      </p:sp>
      <p:sp>
        <p:nvSpPr>
          <p:cNvPr id="83" name="Shape 81"/>
          <p:cNvSpPr/>
          <p:nvPr/>
        </p:nvSpPr>
        <p:spPr>
          <a:xfrm>
            <a:off x="457200" y="4892040"/>
            <a:ext cx="8412480" cy="0"/>
          </a:xfrm>
          <a:prstGeom prst="line">
            <a:avLst/>
          </a:prstGeom>
          <a:noFill/>
          <a:ln w="5080">
            <a:solidFill>
              <a:srgbClr val="3FBA7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4" name="Text 82"/>
          <p:cNvSpPr/>
          <p:nvPr/>
        </p:nvSpPr>
        <p:spPr>
          <a:xfrm>
            <a:off x="457200" y="491947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8F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Securite : aucun mdp en clair · aucune variable sensible dans Git · formulaires valides · admin protege par session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2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alphaModFix amt="9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-182880"/>
            <a:ext cx="7772400" cy="53949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828800" y="1207008"/>
            <a:ext cx="5486400" cy="3072384"/>
          </a:xfrm>
          <a:prstGeom prst="ellipse">
            <a:avLst/>
          </a:prstGeom>
          <a:solidFill>
            <a:srgbClr val="3FBA74">
              <a:alpha val="3000"/>
            </a:srgbClr>
          </a:solidFill>
          <a:ln w="6350">
            <a:solidFill>
              <a:srgbClr val="3FBA74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2468880" y="1565453"/>
            <a:ext cx="4206240" cy="2355494"/>
          </a:xfrm>
          <a:prstGeom prst="ellipse">
            <a:avLst/>
          </a:prstGeom>
          <a:solidFill>
            <a:srgbClr val="3FBA74">
              <a:alpha val="7000"/>
            </a:srgbClr>
          </a:solidFill>
          <a:ln w="6350">
            <a:solidFill>
              <a:srgbClr val="3FBA74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2"/>
          <p:cNvSpPr/>
          <p:nvPr/>
        </p:nvSpPr>
        <p:spPr>
          <a:xfrm>
            <a:off x="3108960" y="1923898"/>
            <a:ext cx="2926080" cy="1638605"/>
          </a:xfrm>
          <a:prstGeom prst="ellipse">
            <a:avLst/>
          </a:prstGeom>
          <a:solidFill>
            <a:srgbClr val="3FBA74">
              <a:alpha val="13000"/>
            </a:srgbClr>
          </a:solidFill>
          <a:ln w="6350">
            <a:solidFill>
              <a:srgbClr val="3FBA74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548640" y="457200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3FBA74">
              <a:alpha val="18000"/>
            </a:srgbClr>
          </a:solidFill>
          <a:ln w="12700">
            <a:solidFill>
              <a:srgbClr val="3FBA7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548640" y="45720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300" dirty="0">
                <a:solidFill>
                  <a:srgbClr val="A8F0C6"/>
                </a:solidFill>
              </a:rPr>
              <a:t>MERCI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457200" y="777240"/>
            <a:ext cx="6400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6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Rejoignez</a:t>
            </a:r>
            <a:endParaRPr lang="en-US" sz="6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6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VéloRépare.</a:t>
            </a:r>
            <a:endParaRPr lang="en-US" sz="6200" dirty="0"/>
          </a:p>
        </p:txBody>
      </p:sp>
      <p:sp>
        <p:nvSpPr>
          <p:cNvPr id="9" name="Text 6"/>
          <p:cNvSpPr/>
          <p:nvPr/>
        </p:nvSpPr>
        <p:spPr>
          <a:xfrm>
            <a:off x="457200" y="278892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3FBA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Ensemble, réparons plus qu'on ne jette.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57200" y="3465576"/>
            <a:ext cx="128016" cy="128016"/>
          </a:xfrm>
          <a:prstGeom prst="ellipse">
            <a:avLst/>
          </a:prstGeom>
          <a:solidFill>
            <a:srgbClr val="3FBA74"/>
          </a:solidFill>
          <a:ln w="12700">
            <a:solidFill>
              <a:srgbClr val="3FBA7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667512" y="340156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F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royta-creator.github.io/velovert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57200" y="3867912"/>
            <a:ext cx="128016" cy="128016"/>
          </a:xfrm>
          <a:prstGeom prst="ellipse">
            <a:avLst/>
          </a:prstGeom>
          <a:solidFill>
            <a:srgbClr val="3FBA74"/>
          </a:solidFill>
          <a:ln w="12700">
            <a:solidFill>
              <a:srgbClr val="3FBA7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667512" y="3803904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F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contact@velorepare.fr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57200" y="4270248"/>
            <a:ext cx="128016" cy="128016"/>
          </a:xfrm>
          <a:prstGeom prst="ellipse">
            <a:avLst/>
          </a:prstGeom>
          <a:solidFill>
            <a:srgbClr val="3FBA74"/>
          </a:solidFill>
          <a:ln w="12700">
            <a:solidFill>
              <a:srgbClr val="3FBA7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667512" y="42062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F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Rue de la Republique, Paris 11e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57200" y="4672584"/>
            <a:ext cx="128016" cy="128016"/>
          </a:xfrm>
          <a:prstGeom prst="ellipse">
            <a:avLst/>
          </a:prstGeom>
          <a:solidFill>
            <a:srgbClr val="3FBA74"/>
          </a:solidFill>
          <a:ln w="12700">
            <a:solidFill>
              <a:srgbClr val="3FBA7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/>
        </p:nvSpPr>
        <p:spPr>
          <a:xfrm>
            <a:off x="667512" y="460857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F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Lun-Ven 14h-20h  ·  Sam 10h-18h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820</Words>
  <Application>Microsoft Office PowerPoint</Application>
  <PresentationFormat>On-screen Show (16:9)</PresentationFormat>
  <Paragraphs>257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VéloRépare — Présentation</dc:title>
  <dc:subject>PptxGenJS Presentation</dc:subject>
  <dc:creator>VéloRépare</dc:creator>
  <cp:lastModifiedBy>Hippolyte VALLAT</cp:lastModifiedBy>
  <cp:revision>2</cp:revision>
  <dcterms:created xsi:type="dcterms:W3CDTF">2026-05-04T20:48:48Z</dcterms:created>
  <dcterms:modified xsi:type="dcterms:W3CDTF">2026-05-04T21:09:45Z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7e7dfc5-2bf4-4a75-8664-2dc4b3bb1d09_Enabled">
    <vt:lpwstr>true</vt:lpwstr>
  </property>
  <property fmtid="{D5CDD505-2E9C-101B-9397-08002B2CF9AE}" pid="3" name="MSIP_Label_47e7dfc5-2bf4-4a75-8664-2dc4b3bb1d09_SetDate">
    <vt:lpwstr>2026-05-04T21:09:45Z</vt:lpwstr>
  </property>
  <property fmtid="{D5CDD505-2E9C-101B-9397-08002B2CF9AE}" pid="4" name="MSIP_Label_47e7dfc5-2bf4-4a75-8664-2dc4b3bb1d09_Method">
    <vt:lpwstr>Standard</vt:lpwstr>
  </property>
  <property fmtid="{D5CDD505-2E9C-101B-9397-08002B2CF9AE}" pid="5" name="MSIP_Label_47e7dfc5-2bf4-4a75-8664-2dc4b3bb1d09_Name">
    <vt:lpwstr>defa4170-0d19-0005-0004-bc88714345d2</vt:lpwstr>
  </property>
  <property fmtid="{D5CDD505-2E9C-101B-9397-08002B2CF9AE}" pid="6" name="MSIP_Label_47e7dfc5-2bf4-4a75-8664-2dc4b3bb1d09_SiteId">
    <vt:lpwstr>413600cf-bd4e-4c7c-8a61-69e73cddf731</vt:lpwstr>
  </property>
  <property fmtid="{D5CDD505-2E9C-101B-9397-08002B2CF9AE}" pid="7" name="MSIP_Label_47e7dfc5-2bf4-4a75-8664-2dc4b3bb1d09_ActionId">
    <vt:lpwstr>10a29343-596a-4735-9ac0-2229804b2976</vt:lpwstr>
  </property>
  <property fmtid="{D5CDD505-2E9C-101B-9397-08002B2CF9AE}" pid="8" name="MSIP_Label_47e7dfc5-2bf4-4a75-8664-2dc4b3bb1d09_ContentBits">
    <vt:lpwstr>0</vt:lpwstr>
  </property>
  <property fmtid="{D5CDD505-2E9C-101B-9397-08002B2CF9AE}" pid="9" name="MSIP_Label_47e7dfc5-2bf4-4a75-8664-2dc4b3bb1d09_Tag">
    <vt:lpwstr>10, 3, 0, 1</vt:lpwstr>
  </property>
</Properties>
</file>